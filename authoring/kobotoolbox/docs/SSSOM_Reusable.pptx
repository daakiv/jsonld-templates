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2" r:id="rId2"/>
    <p:sldId id="277" r:id="rId3"/>
    <p:sldId id="275" r:id="rId4"/>
    <p:sldId id="259" r:id="rId5"/>
    <p:sldId id="280" r:id="rId6"/>
    <p:sldId id="28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3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71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C0BED-029E-6213-C8E0-BB8F064D9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4A4DB-2DD9-0FD7-5E06-F43C60A36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AB66-ED75-D746-B51D-23CA12D7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F175-EE36-3549-A76D-E7898BDFD92D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3CE00-C330-E967-066F-E40C3F00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5F545-CE50-1B14-9AD8-6A0E8626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F3DED-FFE0-5B48-96F4-D25D387CE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6CBF-6872-9C27-016E-3C96468BE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Reusable Metadata Authoring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BD289-F666-695A-EDF0-AD5912F58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/>
          <a:lstStyle/>
          <a:p>
            <a:r>
              <a:rPr lang="en-US" dirty="0"/>
              <a:t>DAVID AMADI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797C690-F976-89A8-B9A3-F7E8258E4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94360"/>
            <a:ext cx="822960" cy="82296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A1E23BA6-4B89-671C-5097-11024DF7CFB5}"/>
              </a:ext>
            </a:extLst>
          </p:cNvPr>
          <p:cNvSpPr/>
          <p:nvPr/>
        </p:nvSpPr>
        <p:spPr>
          <a:xfrm>
            <a:off x="822960" y="914400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88339BB-DFBA-13EB-71DC-7410EAFAF212}"/>
              </a:ext>
            </a:extLst>
          </p:cNvPr>
          <p:cNvSpPr/>
          <p:nvPr/>
        </p:nvSpPr>
        <p:spPr>
          <a:xfrm>
            <a:off x="1207008" y="914400"/>
            <a:ext cx="237744" cy="237744"/>
          </a:xfrm>
          <a:prstGeom prst="ellipse">
            <a:avLst/>
          </a:prstGeom>
          <a:solidFill>
            <a:srgbClr val="6A3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DD764A3-3EED-504C-2404-B2A90D318E93}"/>
              </a:ext>
            </a:extLst>
          </p:cNvPr>
          <p:cNvSpPr/>
          <p:nvPr/>
        </p:nvSpPr>
        <p:spPr>
          <a:xfrm>
            <a:off x="1591056" y="914400"/>
            <a:ext cx="237744" cy="237744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E5F8165-9D5B-7AF1-2572-E8BB3220B8B1}"/>
              </a:ext>
            </a:extLst>
          </p:cNvPr>
          <p:cNvSpPr/>
          <p:nvPr/>
        </p:nvSpPr>
        <p:spPr>
          <a:xfrm>
            <a:off x="1975104" y="914400"/>
            <a:ext cx="237744" cy="237744"/>
          </a:xfrm>
          <a:prstGeom prst="ellipse">
            <a:avLst/>
          </a:prstGeom>
          <a:solidFill>
            <a:srgbClr val="0F8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BC9C441-63D8-6026-92C3-1C4F8179DE52}"/>
              </a:ext>
            </a:extLst>
          </p:cNvPr>
          <p:cNvSpPr/>
          <p:nvPr/>
        </p:nvSpPr>
        <p:spPr>
          <a:xfrm>
            <a:off x="2359152" y="914400"/>
            <a:ext cx="237744" cy="237744"/>
          </a:xfrm>
          <a:prstGeom prst="ellipse">
            <a:avLst/>
          </a:prstGeom>
          <a:solidFill>
            <a:srgbClr val="2E9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0F342-64FB-A354-4190-C5096A200CB2}"/>
              </a:ext>
            </a:extLst>
          </p:cNvPr>
          <p:cNvSpPr txBox="1"/>
          <p:nvPr/>
        </p:nvSpPr>
        <p:spPr>
          <a:xfrm>
            <a:off x="1207008" y="3886200"/>
            <a:ext cx="98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KoboToolbox</a:t>
            </a:r>
            <a:r>
              <a:rPr lang="en-US" b="1" dirty="0"/>
              <a:t> → SSSOM → </a:t>
            </a:r>
            <a:r>
              <a:rPr lang="en-US" b="1"/>
              <a:t>schema.</a:t>
            </a:r>
            <a:r>
              <a:rPr lang="en-US" b="1" dirty="0" err="1"/>
              <a:t>org</a:t>
            </a:r>
            <a:r>
              <a:rPr lang="en-US" b="1" dirty="0"/>
              <a:t>/SOSO JSON-LD</a:t>
            </a:r>
          </a:p>
        </p:txBody>
      </p:sp>
    </p:spTree>
    <p:extLst>
      <p:ext uri="{BB962C8B-B14F-4D97-AF65-F5344CB8AC3E}">
        <p14:creationId xmlns:p14="http://schemas.microsoft.com/office/powerpoint/2010/main" val="849020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two metadata languages that don't talk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 dataset metadata in its own field structure. </a:t>
            </a:r>
            <a:r>
              <a:rPr lang="en-US" sz="1600" b="1" dirty="0" err="1">
                <a:solidFill>
                  <a:srgbClr val="2E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</a:t>
            </a:r>
            <a:r>
              <a:rPr lang="en-US" sz="1600" b="1" dirty="0">
                <a:solidFill>
                  <a:srgbClr val="2E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Science-on-</a:t>
            </a:r>
            <a:r>
              <a:rPr lang="en-US" sz="1600" b="1" dirty="0" err="1">
                <a:solidFill>
                  <a:srgbClr val="2E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what catalogs and OHDSI tools expect. A crosswalk must translate — reliably, repeatably, without inventing facts.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4088" y="1928305"/>
            <a:ext cx="10908792" cy="67989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6227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84787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E89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analogy:  </a:t>
            </a:r>
            <a:r>
              <a:rPr lang="en-US" sz="1600" i="1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Kobo JSON is one language, Schema.org is another, and the SSSOM file is the translation dictionary and instruction sheet between them.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95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F18C44E7-ABDB-CCB6-C277-5E33DC20F6D2}"/>
              </a:ext>
            </a:extLst>
          </p:cNvPr>
          <p:cNvSpPr/>
          <p:nvPr/>
        </p:nvSpPr>
        <p:spPr>
          <a:xfrm>
            <a:off x="640080" y="2896493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8742A0D0-51C2-319E-0CCA-F77637BB6871}"/>
              </a:ext>
            </a:extLst>
          </p:cNvPr>
          <p:cNvSpPr/>
          <p:nvPr/>
        </p:nvSpPr>
        <p:spPr>
          <a:xfrm>
            <a:off x="640080" y="3125093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30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96E824A-F552-708A-F038-297459BB2151}"/>
              </a:ext>
            </a:extLst>
          </p:cNvPr>
          <p:cNvSpPr/>
          <p:nvPr/>
        </p:nvSpPr>
        <p:spPr>
          <a:xfrm>
            <a:off x="640080" y="3810893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Kobo JSON</a:t>
            </a:r>
            <a:endParaRPr lang="en-US" sz="1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0533FA60-1D94-5310-D34B-6BC1EBC91A84}"/>
              </a:ext>
            </a:extLst>
          </p:cNvPr>
          <p:cNvSpPr/>
          <p:nvPr/>
        </p:nvSpPr>
        <p:spPr>
          <a:xfrm>
            <a:off x="640080" y="4194941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language</a:t>
            </a:r>
            <a:endParaRPr lang="en-US" sz="11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FDF2733F-04E0-09F9-8015-2AB4564753EF}"/>
              </a:ext>
            </a:extLst>
          </p:cNvPr>
          <p:cNvSpPr/>
          <p:nvPr/>
        </p:nvSpPr>
        <p:spPr>
          <a:xfrm>
            <a:off x="4114800" y="3216533"/>
            <a:ext cx="3840480" cy="1051560"/>
          </a:xfrm>
          <a:prstGeom prst="homePlate">
            <a:avLst/>
          </a:prstGeom>
          <a:solidFill>
            <a:srgbClr val="6A3FB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8AD22585-5D89-7EBF-F3DD-6467585A79CD}"/>
              </a:ext>
            </a:extLst>
          </p:cNvPr>
          <p:cNvSpPr/>
          <p:nvPr/>
        </p:nvSpPr>
        <p:spPr>
          <a:xfrm>
            <a:off x="4114800" y="3399413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SSSOM crosswalk</a:t>
            </a:r>
            <a:endParaRPr lang="en-US" sz="19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1F70D7CB-8645-4FEF-2E9B-79D7C063FF2F}"/>
              </a:ext>
            </a:extLst>
          </p:cNvPr>
          <p:cNvSpPr/>
          <p:nvPr/>
        </p:nvSpPr>
        <p:spPr>
          <a:xfrm>
            <a:off x="4023360" y="431381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dictionary + rulebook</a:t>
            </a:r>
            <a:endParaRPr lang="en-US" sz="1100" dirty="0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307D7969-5426-F7F2-477D-937F2D44D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628013"/>
            <a:ext cx="256032" cy="256032"/>
          </a:xfrm>
          <a:prstGeom prst="rect">
            <a:avLst/>
          </a:prstGeom>
        </p:spPr>
      </p:pic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DE2BE82E-AAD5-CB2B-43E4-A51139171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628013"/>
            <a:ext cx="256032" cy="256032"/>
          </a:xfrm>
          <a:prstGeom prst="rect">
            <a:avLst/>
          </a:prstGeom>
        </p:spPr>
      </p:pic>
      <p:sp>
        <p:nvSpPr>
          <p:cNvPr id="33" name="Shape 9">
            <a:extLst>
              <a:ext uri="{FF2B5EF4-FFF2-40B4-BE49-F238E27FC236}">
                <a16:creationId xmlns:a16="http://schemas.microsoft.com/office/drawing/2014/main" id="{FD396ECC-7C71-F21B-4E12-9ECD859BAF3B}"/>
              </a:ext>
            </a:extLst>
          </p:cNvPr>
          <p:cNvSpPr/>
          <p:nvPr/>
        </p:nvSpPr>
        <p:spPr>
          <a:xfrm>
            <a:off x="8412480" y="2896493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E9F6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796E2163-B276-E32D-3237-34C4B5AAE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079373"/>
            <a:ext cx="548640" cy="548640"/>
          </a:xfrm>
          <a:prstGeom prst="rect">
            <a:avLst/>
          </a:prstGeom>
        </p:spPr>
      </p:pic>
      <p:sp>
        <p:nvSpPr>
          <p:cNvPr id="35" name="Text 10">
            <a:extLst>
              <a:ext uri="{FF2B5EF4-FFF2-40B4-BE49-F238E27FC236}">
                <a16:creationId xmlns:a16="http://schemas.microsoft.com/office/drawing/2014/main" id="{591CF46E-FED9-D44C-6088-1153D6C55521}"/>
              </a:ext>
            </a:extLst>
          </p:cNvPr>
          <p:cNvSpPr/>
          <p:nvPr/>
        </p:nvSpPr>
        <p:spPr>
          <a:xfrm>
            <a:off x="8412480" y="3765173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Schema.org / SOSO</a:t>
            </a:r>
            <a:endParaRPr lang="en-US" sz="15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BDF4B41E-B3EB-D7A8-D8E3-6C08633588AF}"/>
              </a:ext>
            </a:extLst>
          </p:cNvPr>
          <p:cNvSpPr/>
          <p:nvPr/>
        </p:nvSpPr>
        <p:spPr>
          <a:xfrm>
            <a:off x="8412480" y="4194941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language</a:t>
            </a:r>
            <a:endParaRPr lang="en-US" sz="1100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D07F5D73-6221-ED6E-D33A-AC5500B71667}"/>
              </a:ext>
            </a:extLst>
          </p:cNvPr>
          <p:cNvSpPr/>
          <p:nvPr/>
        </p:nvSpPr>
        <p:spPr>
          <a:xfrm>
            <a:off x="640080" y="4953893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CF0BEBF6-33CD-8451-78DD-4120A6F94739}"/>
              </a:ext>
            </a:extLst>
          </p:cNvPr>
          <p:cNvSpPr/>
          <p:nvPr/>
        </p:nvSpPr>
        <p:spPr>
          <a:xfrm>
            <a:off x="896112" y="5200781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9F0DC686-7C97-D9EF-B163-0EC14B727B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5347085"/>
            <a:ext cx="347472" cy="347472"/>
          </a:xfrm>
          <a:prstGeom prst="rect">
            <a:avLst/>
          </a:prstGeom>
        </p:spPr>
      </p:pic>
      <p:sp>
        <p:nvSpPr>
          <p:cNvPr id="40" name="Text 14">
            <a:extLst>
              <a:ext uri="{FF2B5EF4-FFF2-40B4-BE49-F238E27FC236}">
                <a16:creationId xmlns:a16="http://schemas.microsoft.com/office/drawing/2014/main" id="{1BD0435A-8323-DADB-E600-025359D81CB3}"/>
              </a:ext>
            </a:extLst>
          </p:cNvPr>
          <p:cNvSpPr/>
          <p:nvPr/>
        </p:nvSpPr>
        <p:spPr>
          <a:xfrm>
            <a:off x="1645920" y="522821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Hand-mapping is brittle</a:t>
            </a:r>
            <a:endParaRPr lang="en-US" sz="145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2995EB6F-8C04-FD99-D0BC-70F909141823}"/>
              </a:ext>
            </a:extLst>
          </p:cNvPr>
          <p:cNvSpPr/>
          <p:nvPr/>
        </p:nvSpPr>
        <p:spPr>
          <a:xfrm>
            <a:off x="914400" y="5868293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Re-mapping each record by hand duplicates effort, drifts, and breaks.</a:t>
            </a:r>
            <a:endParaRPr lang="en-US" sz="125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21E9350F-BE71-3DE8-FC8C-694D3D0F4689}"/>
              </a:ext>
            </a:extLst>
          </p:cNvPr>
          <p:cNvSpPr/>
          <p:nvPr/>
        </p:nvSpPr>
        <p:spPr>
          <a:xfrm>
            <a:off x="4334256" y="4953893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02AFFD6C-F6FA-C62F-FA33-1A9EE5D62D8A}"/>
              </a:ext>
            </a:extLst>
          </p:cNvPr>
          <p:cNvSpPr/>
          <p:nvPr/>
        </p:nvSpPr>
        <p:spPr>
          <a:xfrm>
            <a:off x="4590288" y="5200781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>
            <a:extLst>
              <a:ext uri="{FF2B5EF4-FFF2-40B4-BE49-F238E27FC236}">
                <a16:creationId xmlns:a16="http://schemas.microsoft.com/office/drawing/2014/main" id="{2182011F-9754-2931-1837-F2CAEC90F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5347085"/>
            <a:ext cx="347472" cy="347472"/>
          </a:xfrm>
          <a:prstGeom prst="rect">
            <a:avLst/>
          </a:prstGeom>
        </p:spPr>
      </p:pic>
      <p:sp>
        <p:nvSpPr>
          <p:cNvPr id="45" name="Text 18">
            <a:extLst>
              <a:ext uri="{FF2B5EF4-FFF2-40B4-BE49-F238E27FC236}">
                <a16:creationId xmlns:a16="http://schemas.microsoft.com/office/drawing/2014/main" id="{FDC72F0F-3FE8-DD83-A19F-A0E973D5BE91}"/>
              </a:ext>
            </a:extLst>
          </p:cNvPr>
          <p:cNvSpPr/>
          <p:nvPr/>
        </p:nvSpPr>
        <p:spPr>
          <a:xfrm>
            <a:off x="5340096" y="522821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alone hallucinates</a:t>
            </a:r>
            <a:endParaRPr lang="en-US" sz="145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C57A9B0A-E3A0-C8F8-92C3-A2FD36A0D1A5}"/>
              </a:ext>
            </a:extLst>
          </p:cNvPr>
          <p:cNvSpPr/>
          <p:nvPr/>
        </p:nvSpPr>
        <p:spPr>
          <a:xfrm>
            <a:off x="4608576" y="5868293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invent </a:t>
            </a:r>
            <a:r>
              <a:rPr lang="en-US" sz="1250" dirty="0" err="1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JSONPaths</a:t>
            </a: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dirty="0" err="1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</a:t>
            </a: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properties that don't exist</a:t>
            </a:r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E1FE1183-64EB-8324-4591-A2A022C2FFDC}"/>
              </a:ext>
            </a:extLst>
          </p:cNvPr>
          <p:cNvSpPr/>
          <p:nvPr/>
        </p:nvSpPr>
        <p:spPr>
          <a:xfrm>
            <a:off x="8028432" y="4953893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A3E0355F-FF2B-D138-7400-0AABD11EBCA4}"/>
              </a:ext>
            </a:extLst>
          </p:cNvPr>
          <p:cNvSpPr/>
          <p:nvPr/>
        </p:nvSpPr>
        <p:spPr>
          <a:xfrm>
            <a:off x="8284464" y="5200781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5" descr="preencoded.png">
            <a:extLst>
              <a:ext uri="{FF2B5EF4-FFF2-40B4-BE49-F238E27FC236}">
                <a16:creationId xmlns:a16="http://schemas.microsoft.com/office/drawing/2014/main" id="{1CD7E788-9E76-2204-441E-6E15E7A947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68" y="5347085"/>
            <a:ext cx="347472" cy="347472"/>
          </a:xfrm>
          <a:prstGeom prst="rect">
            <a:avLst/>
          </a:prstGeom>
        </p:spPr>
      </p:pic>
      <p:sp>
        <p:nvSpPr>
          <p:cNvPr id="50" name="Text 22">
            <a:extLst>
              <a:ext uri="{FF2B5EF4-FFF2-40B4-BE49-F238E27FC236}">
                <a16:creationId xmlns:a16="http://schemas.microsoft.com/office/drawing/2014/main" id="{FAD7E0F3-7729-81F3-E7C0-BB9E0037776D}"/>
              </a:ext>
            </a:extLst>
          </p:cNvPr>
          <p:cNvSpPr/>
          <p:nvPr/>
        </p:nvSpPr>
        <p:spPr>
          <a:xfrm>
            <a:off x="9034272" y="522821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Catalogs need consistency</a:t>
            </a:r>
            <a:endParaRPr lang="en-US" sz="145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F6CEB352-EDDF-0628-9A85-00000BF76ADE}"/>
              </a:ext>
            </a:extLst>
          </p:cNvPr>
          <p:cNvSpPr/>
          <p:nvPr/>
        </p:nvSpPr>
        <p:spPr>
          <a:xfrm>
            <a:off x="8302752" y="5868293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from a form maps the same way, auditably.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71117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7063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31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908991E-FFB0-22A6-996F-AB514F95A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31" y="1129947"/>
            <a:ext cx="9501432" cy="5620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SSSOM mapping file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.sssom.tsv contains a YAML-style header and a tab-separated mapping table.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46120" cy="4023360"/>
          </a:xfrm>
          <a:prstGeom prst="roundRect">
            <a:avLst>
              <a:gd name="adj" fmla="val 2254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A: YAML header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namespaces, extension columns, mapping-set identity, title, description, and the mapping-file licence.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329184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34015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curie_map: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schema: https://schema.org/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skos: .../skos/core#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extension_definitions: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 source_jsonpath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mapping_set_title: "…"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68680" y="4800600"/>
            <a:ext cx="27889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489204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caution  </a:t>
            </a: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titles/descriptions when punctuation appears.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69080" y="1737360"/>
            <a:ext cx="7479792" cy="4023360"/>
          </a:xfrm>
          <a:prstGeom prst="roundRect">
            <a:avLst>
              <a:gd name="adj" fmla="val 1818"/>
            </a:avLst>
          </a:prstGeom>
          <a:solidFill>
            <a:srgbClr val="F3EE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B: mapping rows — 13 columns in 4 families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297680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6A3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343400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A3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decision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325112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predicate_id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object_id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6089904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135624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labels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117336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subject_label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object_label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7882128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0F8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927848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Executable instructions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909560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source_jsonpath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target_jsonpath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transform_rule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9674352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E89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720072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&amp; provenance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9701784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subject_category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object_category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mapping_justification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4297680" y="4315000"/>
            <a:ext cx="7022592" cy="137000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E89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526280" y="43891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prompt = 13 confirmed TSV columns. </a:t>
            </a: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 = </a:t>
            </a:r>
            <a:r>
              <a:rPr lang="en-US" sz="1300" b="1" dirty="0">
                <a:solidFill>
                  <a:srgbClr val="6A3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property_decision_rationale</a:t>
            </a: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property-choice reasoning. Every field row must use subject_category = owl:ObjectProperty — any other value is silently skipped by the transformer.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0080" y="5897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mapping row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2926080" y="5870448"/>
            <a:ext cx="8622792" cy="4572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063240" y="5870448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kobo:license → schema:license  |  owl:ObjectProperty  |  $.datasets[*]['dublin_core_group/license'] → $.license  |  license_code_to_uri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SSSOM mapping workflow · KoboToolbox → Schema.org / Science-on-Schema.org JSON-LD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row is derived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source, write to the target — the gap between them names the transform.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FROM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source_jsonpath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$.datasets[*] + the exact Kobo key (+ [*] for a group)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02736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0025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42816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target_jsonpath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02736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+ the Schema.org property you chose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99632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382512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00253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022592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transform_rule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82512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shape→string · code→URI · group→object array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79408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62288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200253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0236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9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802368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162288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reasoning + any hidden sub-fields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3703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rows from record 136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40080" y="416052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22960" y="4343400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0F8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82296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 (direct copy)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3840480" y="42702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$.datasets[*]['dublin_core_group/title']   →   $.name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840480" y="46908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 title is the Schema.org Dataset name.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640080" y="52120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822960" y="5394960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6A3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2296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license_code_to_uri  (transform)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3840480" y="53218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$.datasets[*]['dublin_core_group/license'] = "cc_by"   →   https://creativecommons.org/licenses/by/4.0/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3840480" y="5742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expanded via the profile's license map, not copied literally.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SSSOM mapping workflow · KoboToolbox → Schema.org / Science-on-Schema.org JSON-LD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one reusable SSSOM for many records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separate mapping file per record to a single form-level mapping reused across every submission.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EF1F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one file per record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record_136 → sssom_136 → output_136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record_217 → sssom_217 → output_217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record_26  → sssom_26  → output_26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A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24 rules duplicated; files drift; a fix must be repeated everywhere.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9F6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85432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 one reusable form mapping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28232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record_136 ┐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record_217 ┼→ reusable_form.sssom.tsv → many outputs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record_26  ┘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28232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A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mapping covers the whole form; new records need no new file.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7183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drift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the form's rules.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334256" y="43434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608576" y="4572000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7183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85816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fix, everywhere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608576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 rule once; every record benefits.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028432" y="43434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302752" y="4572000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47183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79992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logic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302752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vs raster handled by conditions, not separate files.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SSSOM mapping workflow · KoboToolbox → Schema.org / Science-on-Schema.org JSON-LD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one mapping, three records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 run across vector and raster records — verified clean.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82880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0" y="1920240"/>
            <a:ext cx="182880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146304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1920240"/>
            <a:ext cx="219456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1920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varMeasured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274320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creativeWorkStatus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698480" y="1920240"/>
            <a:ext cx="128016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2468880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2468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(polygon)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468880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0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246888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0" y="24688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246888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24688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698480" y="2468880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789920" y="24688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127248"/>
            <a:ext cx="182880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1272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68880" y="3127248"/>
            <a:ext cx="182880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31272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(point)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3127248"/>
            <a:ext cx="146304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0" y="31272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0" y="3127248"/>
            <a:ext cx="2194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0" y="312724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3127248"/>
            <a:ext cx="274320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46720" y="31272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(absent)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98480" y="3127248"/>
            <a:ext cx="12801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789920" y="312724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" y="378561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" y="378561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68880" y="378561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60320" y="378561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297680" y="3785616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389120" y="378561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760720" y="3785616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52160" y="378561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955280" y="378561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46720" y="378561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698480" y="3785616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789920" y="378561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0080" y="461772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E9F6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548640" cy="54864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645920" y="47091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mapping produced valid JSON-LD for vector AND raster. </a:t>
            </a:r>
            <a:endParaRPr lang="en-US" sz="1350" dirty="0"/>
          </a:p>
        </p:txBody>
      </p:sp>
      <p:sp>
        <p:nvSpPr>
          <p:cNvPr id="55" name="Text 52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SSSOM mapping · KoboToolbox → Schema.org / Science-on-Schema.org JSON-LD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0AD531-C531-2244-A07E-2CA6CDDA7C6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f4eaa23-3afe-4740-9d17-c132d0d5cc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850</Words>
  <Application>Microsoft Macintosh PowerPoint</Application>
  <PresentationFormat>Widescreen</PresentationFormat>
  <Paragraphs>133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Reusable Metadata Authoring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SSSOM Reusable Mapping — Demo</dc:title>
  <dc:subject>PptxGenJS Presentation</dc:subject>
  <dc:creator>GDSC/OHDSI-GIS</dc:creator>
  <cp:lastModifiedBy>David Amadi</cp:lastModifiedBy>
  <cp:revision>9</cp:revision>
  <dcterms:created xsi:type="dcterms:W3CDTF">2026-07-05T18:57:43Z</dcterms:created>
  <dcterms:modified xsi:type="dcterms:W3CDTF">2026-07-06T13:19:02Z</dcterms:modified>
</cp:coreProperties>
</file>